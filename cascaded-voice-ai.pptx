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cascaded architecture chains three specialist models. Speech-to-text (Whisper, or open alternatives such as NVIDIA Parakeet and Moonshine) transcribes the user; a text LLM (Llama 3, Qwen3, Gemma 3) reasons and replies; text-to-speech (VoxCPM, Kokoro, Chatterbox) speaks the answer. Because the hand-off between stages is plain text, each component can be optimised or replaced independently.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models are only half the system. WebRTC is the default transport for low-latency browser and mobile audio (UDP, Opus, jitter buffering, echo cancellation); WebSockets suit server-to-server links and SIP connects phone calls. VAD such as Silero classifies short frames as speech or silence and triggers barge-in. Turn-detection models (LiveKit's turn detector, Pipecat Smart Turn, TEN Turn Detection) judge whether the user is actually done, avoiding cut-offs from fixed silence timers. Frameworks like Pipecat, LiveKit Agents and TEN Framework wire it all together and manage interruptions and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advantage is that text sits between every stage. That unlocks mature text-LLM reasoning and RAG, independent component swaps, simple text-level moderation, and a complete transcript for debugging.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Converting speech to text discards tone and emotion. Latency is additive across VAD, STT, LLM and TTS — the budget shown is illustrative, not measured. Handling interruptions requires an external VAD and a careful cancellation state machine.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Omni models process audio tokens directly, winning on latency, emotion and interruptions. Cascaded pipelines win on reasoning, RAG, guardrails, voice flexibility and cost. Latency figures are typical ranges, not benchmarks.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cascaded pipelines for knowledge-heavy, regulated or brand-sensitive use cases; use omni models where conversational feel is the product. Open-weight speech-to-speech examples: Qwen3-Omni (Alibaba), Moshi (Kyutai, full-duplex), MiniCPM-o (OpenBMB), GLM-4-Voice (Zhipu AI). Hosted APIs: OpenAI's GPT Realtime and Google's Gemini Live native-audio models. Hybrid designs — an omni front-end that calls a text LLM for tools and RAG — are an emerging middle ground.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3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AI ARCHITECTURES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Cascaded Pipeline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161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F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specialist models, chained through text — the “Unix philosophy” of voice AI.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685800" cy="868680"/>
          </a:xfrm>
          <a:prstGeom prst="roundRect">
            <a:avLst>
              <a:gd name="adj" fmla="val 20000"/>
            </a:avLst>
          </a:prstGeom>
          <a:solidFill>
            <a:srgbClr val="185443"/>
          </a:solidFill>
          <a:ln w="12700">
            <a:solidFill>
              <a:srgbClr val="2F7A6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" y="2414016"/>
            <a:ext cx="310896" cy="3108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278892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179576" y="2720340"/>
            <a:ext cx="201168" cy="0"/>
          </a:xfrm>
          <a:prstGeom prst="line">
            <a:avLst/>
          </a:prstGeom>
          <a:noFill/>
          <a:ln w="25400">
            <a:solidFill>
              <a:srgbClr val="FFB22E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417320" y="1783080"/>
            <a:ext cx="1280160" cy="18745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31750">
            <a:solidFill>
              <a:srgbClr val="3FA7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828800" y="1892808"/>
            <a:ext cx="457200" cy="457200"/>
          </a:xfrm>
          <a:prstGeom prst="ellipse">
            <a:avLst/>
          </a:prstGeom>
          <a:solidFill>
            <a:srgbClr val="3FA7D6"/>
          </a:solidFill>
          <a:ln w="12700">
            <a:solidFill>
              <a:srgbClr val="3FA7D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9384" y="199339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17320" y="24048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1691640" y="2734056"/>
            <a:ext cx="731520" cy="0"/>
          </a:xfrm>
          <a:prstGeom prst="line">
            <a:avLst/>
          </a:prstGeom>
          <a:noFill/>
          <a:ln w="12700">
            <a:solidFill>
              <a:srgbClr val="CFE6D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17320" y="2807208"/>
            <a:ext cx="1280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5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F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Parakeet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F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Moonshine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2734056" y="2720340"/>
            <a:ext cx="201168" cy="0"/>
          </a:xfrm>
          <a:prstGeom prst="line">
            <a:avLst/>
          </a:prstGeom>
          <a:noFill/>
          <a:ln w="25400">
            <a:solidFill>
              <a:srgbClr val="FFB22E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2971800" y="2286000"/>
            <a:ext cx="685800" cy="868680"/>
          </a:xfrm>
          <a:prstGeom prst="roundRect">
            <a:avLst>
              <a:gd name="adj" fmla="val 20000"/>
            </a:avLst>
          </a:prstGeom>
          <a:solidFill>
            <a:srgbClr val="185443"/>
          </a:solidFill>
          <a:ln w="12700">
            <a:solidFill>
              <a:srgbClr val="2F7A60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9252" y="2414016"/>
            <a:ext cx="310896" cy="31089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971800" y="278892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3694176" y="2720340"/>
            <a:ext cx="201168" cy="0"/>
          </a:xfrm>
          <a:prstGeom prst="line">
            <a:avLst/>
          </a:prstGeom>
          <a:noFill/>
          <a:ln w="25400">
            <a:solidFill>
              <a:srgbClr val="FFB22E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3931920" y="1783080"/>
            <a:ext cx="1280160" cy="18745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31750">
            <a:solidFill>
              <a:srgbClr val="FFB22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343400" y="1892808"/>
            <a:ext cx="457200" cy="457200"/>
          </a:xfrm>
          <a:prstGeom prst="ellipse">
            <a:avLst/>
          </a:prstGeom>
          <a:solidFill>
            <a:srgbClr val="FFB22E"/>
          </a:solidFill>
          <a:ln w="12700">
            <a:solidFill>
              <a:srgbClr val="FFB22E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3984" y="1993392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3931920" y="24048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500" dirty="0"/>
          </a:p>
        </p:txBody>
      </p:sp>
      <p:sp>
        <p:nvSpPr>
          <p:cNvPr id="24" name="Shape 18"/>
          <p:cNvSpPr/>
          <p:nvPr/>
        </p:nvSpPr>
        <p:spPr>
          <a:xfrm>
            <a:off x="4206240" y="2734056"/>
            <a:ext cx="731520" cy="0"/>
          </a:xfrm>
          <a:prstGeom prst="line">
            <a:avLst/>
          </a:prstGeom>
          <a:noFill/>
          <a:ln w="12700">
            <a:solidFill>
              <a:srgbClr val="CFE6D6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3931920" y="2807208"/>
            <a:ext cx="1280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5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F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F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3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5248656" y="2720340"/>
            <a:ext cx="201168" cy="0"/>
          </a:xfrm>
          <a:prstGeom prst="line">
            <a:avLst/>
          </a:prstGeom>
          <a:noFill/>
          <a:ln w="25400">
            <a:solidFill>
              <a:srgbClr val="FFB22E"/>
            </a:solidFill>
            <a:prstDash val="solid"/>
            <a:tailEnd type="triangle"/>
          </a:ln>
        </p:spPr>
      </p:sp>
      <p:sp>
        <p:nvSpPr>
          <p:cNvPr id="27" name="Shape 21"/>
          <p:cNvSpPr/>
          <p:nvPr/>
        </p:nvSpPr>
        <p:spPr>
          <a:xfrm>
            <a:off x="5486400" y="2286000"/>
            <a:ext cx="685800" cy="868680"/>
          </a:xfrm>
          <a:prstGeom prst="roundRect">
            <a:avLst>
              <a:gd name="adj" fmla="val 20000"/>
            </a:avLst>
          </a:prstGeom>
          <a:solidFill>
            <a:srgbClr val="185443"/>
          </a:solidFill>
          <a:ln w="12700">
            <a:solidFill>
              <a:srgbClr val="2F7A60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73852" y="2414016"/>
            <a:ext cx="310896" cy="31089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486400" y="278892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6208776" y="2720340"/>
            <a:ext cx="201168" cy="0"/>
          </a:xfrm>
          <a:prstGeom prst="line">
            <a:avLst/>
          </a:prstGeom>
          <a:noFill/>
          <a:ln w="25400">
            <a:solidFill>
              <a:srgbClr val="FFB22E"/>
            </a:solidFill>
            <a:prstDash val="solid"/>
            <a:tailEnd type="triangle"/>
          </a:ln>
        </p:spPr>
      </p:sp>
      <p:sp>
        <p:nvSpPr>
          <p:cNvPr id="31" name="Shape 24"/>
          <p:cNvSpPr/>
          <p:nvPr/>
        </p:nvSpPr>
        <p:spPr>
          <a:xfrm>
            <a:off x="6446520" y="1783080"/>
            <a:ext cx="1280160" cy="18745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31750">
            <a:solidFill>
              <a:srgbClr val="F2545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0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6858000" y="1892808"/>
            <a:ext cx="457200" cy="457200"/>
          </a:xfrm>
          <a:prstGeom prst="ellipse">
            <a:avLst/>
          </a:prstGeom>
          <a:solidFill>
            <a:srgbClr val="F2545B"/>
          </a:solidFill>
          <a:ln w="12700">
            <a:solidFill>
              <a:srgbClr val="F2545B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1993392"/>
            <a:ext cx="256032" cy="256032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446520" y="24048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TTS</a:t>
            </a:r>
            <a:endParaRPr lang="en-US" sz="1500" dirty="0"/>
          </a:p>
        </p:txBody>
      </p:sp>
      <p:sp>
        <p:nvSpPr>
          <p:cNvPr id="35" name="Shape 27"/>
          <p:cNvSpPr/>
          <p:nvPr/>
        </p:nvSpPr>
        <p:spPr>
          <a:xfrm>
            <a:off x="6720840" y="2734056"/>
            <a:ext cx="731520" cy="0"/>
          </a:xfrm>
          <a:prstGeom prst="line">
            <a:avLst/>
          </a:prstGeom>
          <a:noFill/>
          <a:ln w="12700">
            <a:solidFill>
              <a:srgbClr val="CFE6D6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6446520" y="2807208"/>
            <a:ext cx="1280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5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VoxCPM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F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Kokoro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F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Chatterbox</a:t>
            </a:r>
            <a:endParaRPr lang="en-US" sz="1100" dirty="0"/>
          </a:p>
        </p:txBody>
      </p:sp>
      <p:sp>
        <p:nvSpPr>
          <p:cNvPr id="37" name="Shape 29"/>
          <p:cNvSpPr/>
          <p:nvPr/>
        </p:nvSpPr>
        <p:spPr>
          <a:xfrm>
            <a:off x="7763256" y="2720340"/>
            <a:ext cx="201168" cy="0"/>
          </a:xfrm>
          <a:prstGeom prst="line">
            <a:avLst/>
          </a:prstGeom>
          <a:noFill/>
          <a:ln w="25400">
            <a:solidFill>
              <a:srgbClr val="FFB22E"/>
            </a:solidFill>
            <a:prstDash val="solid"/>
            <a:tailEnd type="triangle"/>
          </a:ln>
        </p:spPr>
      </p:sp>
      <p:sp>
        <p:nvSpPr>
          <p:cNvPr id="38" name="Shape 30"/>
          <p:cNvSpPr/>
          <p:nvPr/>
        </p:nvSpPr>
        <p:spPr>
          <a:xfrm>
            <a:off x="8001000" y="2286000"/>
            <a:ext cx="685800" cy="868680"/>
          </a:xfrm>
          <a:prstGeom prst="roundRect">
            <a:avLst>
              <a:gd name="adj" fmla="val 20000"/>
            </a:avLst>
          </a:prstGeom>
          <a:solidFill>
            <a:srgbClr val="185443"/>
          </a:solidFill>
          <a:ln w="12700">
            <a:solidFill>
              <a:srgbClr val="2F7A60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8452" y="2414016"/>
            <a:ext cx="310896" cy="310896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8001000" y="278892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</a:t>
            </a:r>
            <a:endParaRPr lang="en-US" sz="1200" dirty="0"/>
          </a:p>
        </p:txBody>
      </p:sp>
      <p:sp>
        <p:nvSpPr>
          <p:cNvPr id="41" name="Text 32"/>
          <p:cNvSpPr txBox="1"/>
          <p:nvPr/>
        </p:nvSpPr>
        <p:spPr>
          <a:xfrm>
            <a:off x="457200" y="376732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F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Bold = reference stack · others are open-source drop-in alternatives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is the contract between every stage — so each model can be tuned, swapped, inspected and scaled on its own.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Real-Time Plumbing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F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turns three models into a conversation you can actually talk to.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23444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 w="12700">
            <a:solidFill>
              <a:srgbClr val="CFE6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device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737360" y="1623060"/>
            <a:ext cx="251460" cy="0"/>
          </a:xfrm>
          <a:prstGeom prst="line">
            <a:avLst/>
          </a:prstGeom>
          <a:noFill/>
          <a:ln w="19050">
            <a:solidFill>
              <a:srgbClr val="2F7A60"/>
            </a:solidFill>
            <a:prstDash val="solid"/>
            <a:headEnd type="triangl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034540" y="1417320"/>
            <a:ext cx="1234440" cy="411480"/>
          </a:xfrm>
          <a:prstGeom prst="roundRect">
            <a:avLst>
              <a:gd name="adj" fmla="val 48889"/>
            </a:avLst>
          </a:prstGeom>
          <a:solidFill>
            <a:srgbClr val="3FA7D6"/>
          </a:solidFill>
          <a:ln w="12700">
            <a:solidFill>
              <a:srgbClr val="3FA7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034540" y="141732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14700" y="1623060"/>
            <a:ext cx="251460" cy="0"/>
          </a:xfrm>
          <a:prstGeom prst="line">
            <a:avLst/>
          </a:prstGeom>
          <a:noFill/>
          <a:ln w="19050">
            <a:solidFill>
              <a:srgbClr val="2F7A6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611880" y="1417320"/>
            <a:ext cx="1234440" cy="411480"/>
          </a:xfrm>
          <a:prstGeom prst="roundRect">
            <a:avLst>
              <a:gd name="adj" fmla="val 48889"/>
            </a:avLst>
          </a:prstGeom>
          <a:solidFill>
            <a:srgbClr val="FFB22E"/>
          </a:solidFill>
          <a:ln w="12700">
            <a:solidFill>
              <a:srgbClr val="FFB2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11880" y="141732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92040" y="1623060"/>
            <a:ext cx="251460" cy="0"/>
          </a:xfrm>
          <a:prstGeom prst="line">
            <a:avLst/>
          </a:prstGeom>
          <a:noFill/>
          <a:ln w="19050">
            <a:solidFill>
              <a:srgbClr val="2F7A6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189220" y="1417320"/>
            <a:ext cx="1463040" cy="411480"/>
          </a:xfrm>
          <a:prstGeom prst="roundRect">
            <a:avLst>
              <a:gd name="adj" fmla="val 48889"/>
            </a:avLst>
          </a:prstGeom>
          <a:solidFill>
            <a:srgbClr val="F2545B"/>
          </a:solidFill>
          <a:ln w="12700">
            <a:solidFill>
              <a:srgbClr val="F2545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89220" y="14173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detection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697980" y="1623060"/>
            <a:ext cx="251460" cy="0"/>
          </a:xfrm>
          <a:prstGeom prst="line">
            <a:avLst/>
          </a:prstGeom>
          <a:noFill/>
          <a:ln w="19050">
            <a:solidFill>
              <a:srgbClr val="2F7A6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995160" y="1417320"/>
            <a:ext cx="1691640" cy="411480"/>
          </a:xfrm>
          <a:prstGeom prst="roundRect">
            <a:avLst>
              <a:gd name="adj" fmla="val 48889"/>
            </a:avLst>
          </a:prstGeom>
          <a:solidFill>
            <a:srgbClr val="0E3B2E"/>
          </a:solidFill>
          <a:ln w="12700">
            <a:solidFill>
              <a:srgbClr val="0E3B2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95160" y="14173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STT → LLM → TTS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2011680"/>
            <a:ext cx="1920240" cy="269748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FE6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1792" y="2176272"/>
            <a:ext cx="384048" cy="384048"/>
          </a:xfrm>
          <a:prstGeom prst="ellipse">
            <a:avLst/>
          </a:prstGeom>
          <a:solidFill>
            <a:srgbClr val="3FA7D6"/>
          </a:solidFill>
          <a:ln w="12700">
            <a:solidFill>
              <a:srgbClr val="3FA7D6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267712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621792" y="265176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21792" y="2971800"/>
            <a:ext cx="15910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5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WebRTC for browser &amp; mobile: UDP, Opus, jitter buffer, echo cancellation. WebSocket for servers; SIP for phones.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21792" y="3931920"/>
            <a:ext cx="1591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4F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TOOLS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621792" y="4114800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F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LiveKit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F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mediasoup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F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Janus Gateway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2560320" y="2011680"/>
            <a:ext cx="1920240" cy="269748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FE6D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724912" y="2176272"/>
            <a:ext cx="384048" cy="384048"/>
          </a:xfrm>
          <a:prstGeom prst="ellipse">
            <a:avLst/>
          </a:prstGeom>
          <a:solidFill>
            <a:srgbClr val="FFB22E"/>
          </a:solidFill>
          <a:ln w="12700">
            <a:solidFill>
              <a:srgbClr val="FFB22E"/>
            </a:solidFill>
            <a:prstDash val="solid"/>
          </a:ln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67712"/>
            <a:ext cx="201168" cy="201168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2724912" y="265176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VAD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2724912" y="2971800"/>
            <a:ext cx="15910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5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each ~30 ms frame as speech or silence. Gates STT and fires barge-in when the user talks over the bot.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2724912" y="3931920"/>
            <a:ext cx="1591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4F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TOOLS</a:t>
            </a:r>
            <a:endParaRPr lang="en-US" sz="800" dirty="0"/>
          </a:p>
        </p:txBody>
      </p:sp>
      <p:sp>
        <p:nvSpPr>
          <p:cNvPr id="31" name="Text 27"/>
          <p:cNvSpPr txBox="1"/>
          <p:nvPr/>
        </p:nvSpPr>
        <p:spPr>
          <a:xfrm>
            <a:off x="2724912" y="4114800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F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Silero VAD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F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WebRTC VAD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F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VAD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663440" y="2011680"/>
            <a:ext cx="1920240" cy="269748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FE6D6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828032" y="2176272"/>
            <a:ext cx="384048" cy="384048"/>
          </a:xfrm>
          <a:prstGeom prst="ellipse">
            <a:avLst/>
          </a:prstGeom>
          <a:solidFill>
            <a:srgbClr val="F2545B"/>
          </a:solidFill>
          <a:ln w="12700">
            <a:solidFill>
              <a:srgbClr val="F2545B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2267712"/>
            <a:ext cx="201168" cy="201168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4828032" y="265176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Detection</a:t>
            </a:r>
            <a:endParaRPr lang="en-US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4828032" y="2971800"/>
            <a:ext cx="15910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5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whether the user has finished or is only pausing. Semantic models beat fixed silence timeouts.</a:t>
            </a:r>
            <a:endParaRPr lang="en-US" sz="1000" dirty="0"/>
          </a:p>
        </p:txBody>
      </p:sp>
      <p:sp>
        <p:nvSpPr>
          <p:cNvPr id="37" name="Text 32"/>
          <p:cNvSpPr txBox="1"/>
          <p:nvPr/>
        </p:nvSpPr>
        <p:spPr>
          <a:xfrm>
            <a:off x="4828032" y="3931920"/>
            <a:ext cx="1591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4F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TOOLS</a:t>
            </a:r>
            <a:endParaRPr lang="en-US" sz="800" dirty="0"/>
          </a:p>
        </p:txBody>
      </p:sp>
      <p:sp>
        <p:nvSpPr>
          <p:cNvPr id="38" name="Text 33"/>
          <p:cNvSpPr txBox="1"/>
          <p:nvPr/>
        </p:nvSpPr>
        <p:spPr>
          <a:xfrm>
            <a:off x="4828032" y="4114800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F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LiveKit Turn Detector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F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Pipecat Smart Turn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F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Turn Detection</a:t>
            </a:r>
            <a:endParaRPr lang="en-US" sz="1000" dirty="0"/>
          </a:p>
        </p:txBody>
      </p:sp>
      <p:sp>
        <p:nvSpPr>
          <p:cNvPr id="39" name="Shape 34"/>
          <p:cNvSpPr/>
          <p:nvPr/>
        </p:nvSpPr>
        <p:spPr>
          <a:xfrm>
            <a:off x="6766560" y="2011680"/>
            <a:ext cx="1920240" cy="269748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FE6D6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6931152" y="2176272"/>
            <a:ext cx="384048" cy="384048"/>
          </a:xfrm>
          <a:prstGeom prst="ellipse">
            <a:avLst/>
          </a:prstGeom>
          <a:solidFill>
            <a:srgbClr val="0E3B2E"/>
          </a:solidFill>
          <a:ln w="12700">
            <a:solidFill>
              <a:srgbClr val="0E3B2E"/>
            </a:solidFill>
            <a:prstDash val="solid"/>
          </a:ln>
        </p:spPr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2" y="2267712"/>
            <a:ext cx="201168" cy="201168"/>
          </a:xfrm>
          <a:prstGeom prst="rect">
            <a:avLst/>
          </a:prstGeom>
        </p:spPr>
      </p:pic>
      <p:sp>
        <p:nvSpPr>
          <p:cNvPr id="42" name="Text 36"/>
          <p:cNvSpPr txBox="1"/>
          <p:nvPr/>
        </p:nvSpPr>
        <p:spPr>
          <a:xfrm>
            <a:off x="6931152" y="265176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400" dirty="0"/>
          </a:p>
        </p:txBody>
      </p:sp>
      <p:sp>
        <p:nvSpPr>
          <p:cNvPr id="43" name="Text 37"/>
          <p:cNvSpPr txBox="1"/>
          <p:nvPr/>
        </p:nvSpPr>
        <p:spPr>
          <a:xfrm>
            <a:off x="6931152" y="2971800"/>
            <a:ext cx="15910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5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Streams audio and text frames between stages; handles interruptions, TTS cancellation and conversation context.</a:t>
            </a:r>
            <a:endParaRPr lang="en-US" sz="1000" dirty="0"/>
          </a:p>
        </p:txBody>
      </p:sp>
      <p:sp>
        <p:nvSpPr>
          <p:cNvPr id="44" name="Text 38"/>
          <p:cNvSpPr txBox="1"/>
          <p:nvPr/>
        </p:nvSpPr>
        <p:spPr>
          <a:xfrm>
            <a:off x="6931152" y="3931920"/>
            <a:ext cx="1591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4F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TOOLS</a:t>
            </a:r>
            <a:endParaRPr lang="en-US" sz="800" dirty="0"/>
          </a:p>
        </p:txBody>
      </p:sp>
      <p:sp>
        <p:nvSpPr>
          <p:cNvPr id="45" name="Text 39"/>
          <p:cNvSpPr txBox="1"/>
          <p:nvPr/>
        </p:nvSpPr>
        <p:spPr>
          <a:xfrm>
            <a:off x="6931152" y="4114800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F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Pipecat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F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LiveKit Agents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F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Framework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Cascaded Works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F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in the middle buys control, clarity and flexibility.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397764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CFE6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709928"/>
            <a:ext cx="502920" cy="502920"/>
          </a:xfrm>
          <a:prstGeom prst="ellipse">
            <a:avLst/>
          </a:prstGeom>
          <a:solidFill>
            <a:srgbClr val="0E3B2E"/>
          </a:solidFill>
          <a:ln w="12700">
            <a:solidFill>
              <a:srgbClr val="0E3B2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1837944"/>
            <a:ext cx="246888" cy="24688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70992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Best-in-class reasoning &amp; RAG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30428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5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LLMs lead on logic, JSON output and RAG — 100k tokens of manuals is easy in text, painful in an audio KV cache.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709160" y="1481328"/>
            <a:ext cx="397764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CFE6D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37760" y="1709928"/>
            <a:ext cx="502920" cy="502920"/>
          </a:xfrm>
          <a:prstGeom prst="ellipse">
            <a:avLst/>
          </a:prstGeom>
          <a:solidFill>
            <a:srgbClr val="0E3B2E"/>
          </a:solidFill>
          <a:ln w="12700">
            <a:solidFill>
              <a:srgbClr val="0E3B2E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5776" y="1837944"/>
            <a:ext cx="246888" cy="2468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77840" y="170992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&amp; swappable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230428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5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a new voice? Swap only the TTS model. STT and LLM stay untouched; each stage upgrades on its own schedule.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57200" y="3310128"/>
            <a:ext cx="397764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CFE6D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85800" y="3538728"/>
            <a:ext cx="502920" cy="502920"/>
          </a:xfrm>
          <a:prstGeom prst="ellipse">
            <a:avLst/>
          </a:prstGeom>
          <a:solidFill>
            <a:srgbClr val="0E3B2E"/>
          </a:solidFill>
          <a:ln w="12700">
            <a:solidFill>
              <a:srgbClr val="0E3B2E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3666744"/>
            <a:ext cx="246888" cy="24688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25880" y="353872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guardrails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685800" y="413308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5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regex, NeMo Guardrails or Llama Guard on the intermediate text and block unsafe output before it ever reaches TTS.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709160" y="3310128"/>
            <a:ext cx="397764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CFE6D6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937760" y="3538728"/>
            <a:ext cx="502920" cy="502920"/>
          </a:xfrm>
          <a:prstGeom prst="ellipse">
            <a:avLst/>
          </a:prstGeom>
          <a:solidFill>
            <a:srgbClr val="0E3B2E"/>
          </a:solidFill>
          <a:ln w="12700">
            <a:solidFill>
              <a:srgbClr val="0E3B2E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5776" y="3666744"/>
            <a:ext cx="246888" cy="24688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77840" y="353872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observability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4937760" y="413308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5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exact transcript of what the user said and what the AI replied makes debugging, QA and auditing straightforward.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Trade-offs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F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lost — and what gets expensive — when speech becomes text.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527048"/>
            <a:ext cx="502920" cy="502920"/>
          </a:xfrm>
          <a:prstGeom prst="ellipse">
            <a:avLst/>
          </a:prstGeom>
          <a:solidFill>
            <a:srgbClr val="F2545B"/>
          </a:solidFill>
          <a:ln w="12700">
            <a:solidFill>
              <a:srgbClr val="F2545B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655064"/>
            <a:ext cx="246888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43000" y="148132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Paralinguistic blind spot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143000" y="178308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5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strips tone. A heavy sigh plus “Yeah, sure, whatever” is transcribed as agreement — and answered cheerfully.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2532888"/>
            <a:ext cx="502920" cy="502920"/>
          </a:xfrm>
          <a:prstGeom prst="ellipse">
            <a:avLst/>
          </a:prstGeom>
          <a:solidFill>
            <a:srgbClr val="F2545B"/>
          </a:solidFill>
          <a:ln w="12700">
            <a:solidFill>
              <a:srgbClr val="F2545B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2660904"/>
            <a:ext cx="246888" cy="24688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43000" y="248716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latency tax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143000" y="278892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5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Time-to-first-audio is the sum of every stage. Sub-800 ms takes heroic engineering.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57200" y="3538728"/>
            <a:ext cx="502920" cy="502920"/>
          </a:xfrm>
          <a:prstGeom prst="ellipse">
            <a:avLst/>
          </a:prstGeom>
          <a:solidFill>
            <a:srgbClr val="F2545B"/>
          </a:solidFill>
          <a:ln w="12700">
            <a:solidFill>
              <a:srgbClr val="F2545B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3666744"/>
            <a:ext cx="246888" cy="24688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43000" y="34930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Barge-in complexity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143000" y="379476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5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Interruptions need a separate VAD, instant TTS cancellation, buffer flushes and race-free state handling.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5029200" y="1417320"/>
            <a:ext cx="3657600" cy="3246120"/>
          </a:xfrm>
          <a:prstGeom prst="roundRect">
            <a:avLst>
              <a:gd name="adj" fmla="val 2817"/>
            </a:avLst>
          </a:prstGeom>
          <a:solidFill>
            <a:srgbClr val="0E3B2E"/>
          </a:solidFill>
          <a:ln w="12700">
            <a:solidFill>
              <a:srgbClr val="0E3B2E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257800" y="16002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time-to-first-audio goes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5257800" y="187452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F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budget for an ~800 ms target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5257800" y="228600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VAD tail-padding</a:t>
            </a:r>
            <a:pPr indent="0" marL="0">
              <a:buNone/>
            </a:pPr>
            <a:r>
              <a:rPr lang="en-US" sz="1100" b="1" dirty="0">
                <a:solidFill>
                  <a:srgbClr val="CF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200 ms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5257800" y="2560320"/>
            <a:ext cx="3200400" cy="146304"/>
          </a:xfrm>
          <a:prstGeom prst="rect">
            <a:avLst/>
          </a:prstGeom>
          <a:solidFill>
            <a:srgbClr val="185443"/>
          </a:solidFill>
          <a:ln w="12700">
            <a:solidFill>
              <a:srgbClr val="185443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5257800" y="2560320"/>
            <a:ext cx="800100" cy="146304"/>
          </a:xfrm>
          <a:prstGeom prst="rect">
            <a:avLst/>
          </a:prstGeom>
          <a:solidFill>
            <a:srgbClr val="CFE6D6"/>
          </a:solidFill>
          <a:ln w="12700">
            <a:solidFill>
              <a:srgbClr val="CFE6D6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5257800" y="283464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STT inference</a:t>
            </a:r>
            <a:pPr indent="0" marL="0">
              <a:buNone/>
            </a:pPr>
            <a:r>
              <a:rPr lang="en-US" sz="1100" b="1" dirty="0">
                <a:solidFill>
                  <a:srgbClr val="3FA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150 ms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5257800" y="3108960"/>
            <a:ext cx="3200400" cy="146304"/>
          </a:xfrm>
          <a:prstGeom prst="rect">
            <a:avLst/>
          </a:prstGeom>
          <a:solidFill>
            <a:srgbClr val="185443"/>
          </a:solidFill>
          <a:ln w="12700">
            <a:solidFill>
              <a:srgbClr val="185443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5257800" y="3108960"/>
            <a:ext cx="600075" cy="146304"/>
          </a:xfrm>
          <a:prstGeom prst="rect">
            <a:avLst/>
          </a:prstGeom>
          <a:solidFill>
            <a:srgbClr val="3FA7D6"/>
          </a:solidFill>
          <a:ln w="12700">
            <a:solidFill>
              <a:srgbClr val="3FA7D6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257800" y="338328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prefill + 1st token</a:t>
            </a:r>
            <a:pPr indent="0" marL="0">
              <a:buNone/>
            </a:pPr>
            <a:r>
              <a:rPr lang="en-US" sz="1100" b="1" dirty="0">
                <a:solidFill>
                  <a:srgbClr val="FF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250 ms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5257800" y="3657600"/>
            <a:ext cx="3200400" cy="146304"/>
          </a:xfrm>
          <a:prstGeom prst="rect">
            <a:avLst/>
          </a:prstGeom>
          <a:solidFill>
            <a:srgbClr val="185443"/>
          </a:solidFill>
          <a:ln w="12700">
            <a:solidFill>
              <a:srgbClr val="185443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257800" y="3657600"/>
            <a:ext cx="1000125" cy="146304"/>
          </a:xfrm>
          <a:prstGeom prst="rect">
            <a:avLst/>
          </a:prstGeom>
          <a:solidFill>
            <a:srgbClr val="FFB22E"/>
          </a:solidFill>
          <a:ln w="12700">
            <a:solidFill>
              <a:srgbClr val="FFB22E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257800" y="393192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TTS prefill + 1st chunk</a:t>
            </a:r>
            <a:pPr indent="0" marL="0">
              <a:buNone/>
            </a:pPr>
            <a:r>
              <a:rPr lang="en-US" sz="1100" b="1" dirty="0">
                <a:solidFill>
                  <a:srgbClr val="F25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200 ms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5257800" y="4206240"/>
            <a:ext cx="3200400" cy="146304"/>
          </a:xfrm>
          <a:prstGeom prst="rect">
            <a:avLst/>
          </a:prstGeom>
          <a:solidFill>
            <a:srgbClr val="185443"/>
          </a:solidFill>
          <a:ln w="12700">
            <a:solidFill>
              <a:srgbClr val="185443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5257800" y="4206240"/>
            <a:ext cx="800100" cy="146304"/>
          </a:xfrm>
          <a:prstGeom prst="rect">
            <a:avLst/>
          </a:prstGeom>
          <a:solidFill>
            <a:srgbClr val="F2545B"/>
          </a:solidFill>
          <a:ln w="12700">
            <a:solidFill>
              <a:srgbClr val="F2545B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Cascaded vs. Omni (Native Audio)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32004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B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Cascaded (STT → LLM → TTS)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Omni (audio ↔ audio)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2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3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 (TTFA)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~800 ms – 1.5 s; heavy optimisation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7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~300 – 500 ms; near human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3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Emotion &amp; tone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in transcription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7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Preserved and mirrored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3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Barge-in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VAD + state machine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7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 — model stops generating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3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Reasoning / RAG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7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Excellent — mature text LLMs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 / unreliable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3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7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Easy — filter text before TTS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 — must filter audio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3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Hallucinations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7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Textual, easy to catch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Acoustic artefacts, odd voices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3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Voice changes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7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 the TTS 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Baked into weights; fine-tune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3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24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Multi-model routing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24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Huge audio KV-cache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3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/ minute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7A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Moderate; scale stages independently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8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High; large unified GPU memory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6177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F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= advantage · Red = limitation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3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an Architecture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Cascaded trades latency and emotional nuance for control, accuracy and flexibility.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77640" cy="1783080"/>
          </a:xfrm>
          <a:prstGeom prst="roundRect">
            <a:avLst>
              <a:gd name="adj" fmla="val 5128"/>
            </a:avLst>
          </a:prstGeom>
          <a:solidFill>
            <a:srgbClr val="185443"/>
          </a:solidFill>
          <a:ln w="12700">
            <a:solidFill>
              <a:srgbClr val="2F7A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581912"/>
            <a:ext cx="402336" cy="402336"/>
          </a:xfrm>
          <a:prstGeom prst="ellipse">
            <a:avLst/>
          </a:prstGeom>
          <a:solidFill>
            <a:srgbClr val="FFB22E"/>
          </a:solidFill>
          <a:ln w="12700">
            <a:solidFill>
              <a:srgbClr val="FFB22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682496"/>
            <a:ext cx="201168" cy="2011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88720" y="1581912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Cascaded fits when…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103120"/>
            <a:ext cx="35753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depend on documents, tools or strict JSON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needs transcripts and text guardrails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voices must be swappable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709160" y="1417320"/>
            <a:ext cx="3977640" cy="1783080"/>
          </a:xfrm>
          <a:prstGeom prst="roundRect">
            <a:avLst>
              <a:gd name="adj" fmla="val 5128"/>
            </a:avLst>
          </a:prstGeom>
          <a:solidFill>
            <a:srgbClr val="185443"/>
          </a:solidFill>
          <a:ln w="12700">
            <a:solidFill>
              <a:srgbClr val="2F7A6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10328" y="1581912"/>
            <a:ext cx="402336" cy="402336"/>
          </a:xfrm>
          <a:prstGeom prst="ellipse">
            <a:avLst/>
          </a:prstGeom>
          <a:solidFill>
            <a:srgbClr val="3FA7D6"/>
          </a:solidFill>
          <a:ln w="12700">
            <a:solidFill>
              <a:srgbClr val="3FA7D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682496"/>
            <a:ext cx="201168" cy="20116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40680" y="1581912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A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 fits when…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910328" y="2103120"/>
            <a:ext cx="35753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Natural, sub-500 ms conversation is the product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 and emotion must be heard and mirrored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interrupt often; reasoning is modest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34290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OMNI / SPEECH-TO-SPEECH MODELS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57200" y="3749040"/>
            <a:ext cx="12801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38770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Qwen3-Omni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" y="417880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 · open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1847088" y="3749040"/>
            <a:ext cx="12801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847088" y="38770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Moshi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1847088" y="417880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Kyutai · open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3236976" y="3749040"/>
            <a:ext cx="12801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236976" y="38770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MiniCPM-o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3236976" y="417880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OpenBMB · open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4626864" y="3749040"/>
            <a:ext cx="12801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626864" y="38770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GLM-4-Voice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4626864" y="417880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Zhipu AI · open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6016752" y="3749040"/>
            <a:ext cx="1280160" cy="777240"/>
          </a:xfrm>
          <a:prstGeom prst="roundRect">
            <a:avLst>
              <a:gd name="adj" fmla="val 11765"/>
            </a:avLst>
          </a:prstGeom>
          <a:solidFill>
            <a:srgbClr val="185443"/>
          </a:solidFill>
          <a:ln w="12700">
            <a:solidFill>
              <a:srgbClr val="2F7A60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016752" y="38770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 Realtime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6016752" y="417880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· API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7406640" y="3749040"/>
            <a:ext cx="1280160" cy="777240"/>
          </a:xfrm>
          <a:prstGeom prst="roundRect">
            <a:avLst>
              <a:gd name="adj" fmla="val 11765"/>
            </a:avLst>
          </a:prstGeom>
          <a:solidFill>
            <a:srgbClr val="185443"/>
          </a:solidFill>
          <a:ln w="12700">
            <a:solidFill>
              <a:srgbClr val="2F7A6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406640" y="38770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Live</a:t>
            </a:r>
            <a:endParaRPr lang="en-US" sz="1300" dirty="0"/>
          </a:p>
        </p:txBody>
      </p:sp>
      <p:sp>
        <p:nvSpPr>
          <p:cNvPr id="32" name="Text 28"/>
          <p:cNvSpPr txBox="1"/>
          <p:nvPr/>
        </p:nvSpPr>
        <p:spPr>
          <a:xfrm>
            <a:off x="7406640" y="417880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· API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Cascaded Voice AI</dc:title>
  <dc:subject>PptxGenJS Presentation</dc:subject>
  <dc:creator>PptxGenJS</dc:creator>
  <cp:lastModifiedBy>PptxGenJS</cp:lastModifiedBy>
  <cp:revision>1</cp:revision>
  <dcterms:created xsi:type="dcterms:W3CDTF">2026-09-26T22:58:28Z</dcterms:created>
  <dcterms:modified xsi:type="dcterms:W3CDTF">2026-09-26T22:58:28Z</dcterms:modified>
</cp:coreProperties>
</file>