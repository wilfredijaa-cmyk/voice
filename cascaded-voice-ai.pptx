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cascaded architecture chains three specialist models. Whisper transcribes the user's speech, Llama 3 reasons over the transcript and produces a text reply, and VoxCPM synthesises that reply back into speech. Because the hand-off between stages is plain text, each component can be optimised or replaced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advantage is that text sits between every stage. That unlocks mature text-LLM reasoning and RAG, independent component swaps, simple text-level moderation, and a complete transcript for debugging.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Converting speech to text discards tone and emotion. Latency is additive across VAD, STT, LLM and TTS — the budget shown is illustrative, not measured. Handling interruptions requires an external VAD and a careful cancellation state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Omni models process audio tokens directly, winning on latency, emotion and interruptions. Cascaded pipelines win on reasoning, RAG, guardrails, voice flexibility and cost. Latency figures are typical ranges, not benchmarks.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cascaded pipelines for knowledge-heavy, regulated or brand-sensitive use cases. Use omni models where conversational feel is the product. Hybrid designs — omni front-end with text-LLM tool calls — are an emerging middle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ARCHITECTURES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Cascaded Pipeline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4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specialist models, chained through text — the “Unix philosophy” of voice AI.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685800" cy="868680"/>
          </a:xfrm>
          <a:prstGeom prst="roundRect">
            <a:avLst>
              <a:gd name="adj" fmla="val 20000"/>
            </a:avLst>
          </a:prstGeom>
          <a:solidFill>
            <a:srgbClr val="3A2757"/>
          </a:solidFill>
          <a:ln w="12700">
            <a:solidFill>
              <a:srgbClr val="5B45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2459736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834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179576" y="2766060"/>
            <a:ext cx="201168" cy="0"/>
          </a:xfrm>
          <a:prstGeom prst="line">
            <a:avLst/>
          </a:prstGeom>
          <a:noFill/>
          <a:ln w="25400">
            <a:solidFill>
              <a:srgbClr val="FFB22E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417320" y="2148840"/>
            <a:ext cx="1280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31750">
            <a:solidFill>
              <a:srgbClr val="2BB3A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819656" y="2267712"/>
            <a:ext cx="475488" cy="475488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36829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788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3044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34056" y="2766060"/>
            <a:ext cx="201168" cy="0"/>
          </a:xfrm>
          <a:prstGeom prst="line">
            <a:avLst/>
          </a:prstGeom>
          <a:noFill/>
          <a:ln w="25400">
            <a:solidFill>
              <a:srgbClr val="FFB22E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2971800" y="2331720"/>
            <a:ext cx="685800" cy="868680"/>
          </a:xfrm>
          <a:prstGeom prst="roundRect">
            <a:avLst>
              <a:gd name="adj" fmla="val 20000"/>
            </a:avLst>
          </a:prstGeom>
          <a:solidFill>
            <a:srgbClr val="3A2757"/>
          </a:solidFill>
          <a:ln w="12700">
            <a:solidFill>
              <a:srgbClr val="5B458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252" y="245973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971800" y="2834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694176" y="2766060"/>
            <a:ext cx="201168" cy="0"/>
          </a:xfrm>
          <a:prstGeom prst="line">
            <a:avLst/>
          </a:prstGeom>
          <a:noFill/>
          <a:ln w="25400">
            <a:solidFill>
              <a:srgbClr val="FFB22E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3931920" y="2148840"/>
            <a:ext cx="1280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31750">
            <a:solidFill>
              <a:srgbClr val="FFB2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334256" y="2267712"/>
            <a:ext cx="475488" cy="475488"/>
          </a:xfrm>
          <a:prstGeom prst="ellipse">
            <a:avLst/>
          </a:prstGeom>
          <a:solidFill>
            <a:srgbClr val="FFB22E"/>
          </a:solidFill>
          <a:ln w="12700">
            <a:solidFill>
              <a:srgbClr val="FFB22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36829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931920" y="2788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3931920" y="3044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248656" y="2766060"/>
            <a:ext cx="201168" cy="0"/>
          </a:xfrm>
          <a:prstGeom prst="line">
            <a:avLst/>
          </a:prstGeom>
          <a:noFill/>
          <a:ln w="25400">
            <a:solidFill>
              <a:srgbClr val="FFB22E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5486400" y="2331720"/>
            <a:ext cx="685800" cy="868680"/>
          </a:xfrm>
          <a:prstGeom prst="roundRect">
            <a:avLst>
              <a:gd name="adj" fmla="val 20000"/>
            </a:avLst>
          </a:prstGeom>
          <a:solidFill>
            <a:srgbClr val="3A2757"/>
          </a:solidFill>
          <a:ln w="12700">
            <a:solidFill>
              <a:srgbClr val="5B458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3852" y="2459736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86400" y="2834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208776" y="2766060"/>
            <a:ext cx="201168" cy="0"/>
          </a:xfrm>
          <a:prstGeom prst="line">
            <a:avLst/>
          </a:prstGeom>
          <a:noFill/>
          <a:ln w="25400">
            <a:solidFill>
              <a:srgbClr val="FFB22E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6446520" y="2148840"/>
            <a:ext cx="1280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31750">
            <a:solidFill>
              <a:srgbClr val="F2545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848856" y="2267712"/>
            <a:ext cx="475488" cy="475488"/>
          </a:xfrm>
          <a:prstGeom prst="ellipse">
            <a:avLst/>
          </a:prstGeom>
          <a:solidFill>
            <a:srgbClr val="F2545B"/>
          </a:solidFill>
          <a:ln w="12700">
            <a:solidFill>
              <a:srgbClr val="F2545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2368296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446520" y="2788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446520" y="3044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VoxCPM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7763256" y="2766060"/>
            <a:ext cx="201168" cy="0"/>
          </a:xfrm>
          <a:prstGeom prst="line">
            <a:avLst/>
          </a:prstGeom>
          <a:noFill/>
          <a:ln w="25400">
            <a:solidFill>
              <a:srgbClr val="FFB22E"/>
            </a:solidFill>
            <a:prstDash val="solid"/>
            <a:tailEnd type="triangle"/>
          </a:ln>
        </p:spPr>
      </p:sp>
      <p:sp>
        <p:nvSpPr>
          <p:cNvPr id="35" name="Shape 27"/>
          <p:cNvSpPr/>
          <p:nvPr/>
        </p:nvSpPr>
        <p:spPr>
          <a:xfrm>
            <a:off x="8001000" y="2331720"/>
            <a:ext cx="685800" cy="868680"/>
          </a:xfrm>
          <a:prstGeom prst="roundRect">
            <a:avLst>
              <a:gd name="adj" fmla="val 20000"/>
            </a:avLst>
          </a:prstGeom>
          <a:solidFill>
            <a:srgbClr val="3A2757"/>
          </a:solidFill>
          <a:ln w="12700">
            <a:solidFill>
              <a:srgbClr val="5B4580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8452" y="2459736"/>
            <a:ext cx="310896" cy="31089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001000" y="2834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1234440" y="3493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transcript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3749040" y="3493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· RAG · tools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6263640" y="3493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→ speech</a:t>
            </a:r>
            <a:endParaRPr lang="en-US" sz="1100" dirty="0"/>
          </a:p>
        </p:txBody>
      </p:sp>
      <p:sp>
        <p:nvSpPr>
          <p:cNvPr id="41" name="Text 32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the contract between every stage — so each model can be tuned, swapped, inspected and scaled on its own.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Cascaded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the middle buys control, clarity and flexibility.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4F1F9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09928"/>
            <a:ext cx="502920" cy="502920"/>
          </a:xfrm>
          <a:prstGeom prst="ellipse">
            <a:avLst/>
          </a:prstGeom>
          <a:solidFill>
            <a:srgbClr val="24163A"/>
          </a:solidFill>
          <a:ln w="12700">
            <a:solidFill>
              <a:srgbClr val="2416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837944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099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reasoning &amp; RAG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0428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LLMs lead on logic, JSON output and RAG — 100k tokens of manuals is easy in text, painful in an audio KV cache.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481328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4F1F9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1709928"/>
            <a:ext cx="502920" cy="502920"/>
          </a:xfrm>
          <a:prstGeom prst="ellipse">
            <a:avLst/>
          </a:prstGeom>
          <a:solidFill>
            <a:srgbClr val="24163A"/>
          </a:solidFill>
          <a:ln w="12700">
            <a:solidFill>
              <a:srgbClr val="2416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1837944"/>
            <a:ext cx="246888" cy="2468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7099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&amp; swappable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30428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new voice? Swap only the TTS model. STT and LLM stay untouched; each stage upgrades on its own schedule.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310128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4F1F9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538728"/>
            <a:ext cx="502920" cy="502920"/>
          </a:xfrm>
          <a:prstGeom prst="ellipse">
            <a:avLst/>
          </a:prstGeom>
          <a:solidFill>
            <a:srgbClr val="24163A"/>
          </a:solidFill>
          <a:ln w="12700">
            <a:solidFill>
              <a:srgbClr val="24163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666744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35387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guardrails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413308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regex, NeMo Guardrails or Llama Guard on the intermediate text and block unsafe output before it ever reaches TTS.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09160" y="3310128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4F1F9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937760" y="3538728"/>
            <a:ext cx="502920" cy="502920"/>
          </a:xfrm>
          <a:prstGeom prst="ellipse">
            <a:avLst/>
          </a:prstGeom>
          <a:solidFill>
            <a:srgbClr val="24163A"/>
          </a:solidFill>
          <a:ln w="12700">
            <a:solidFill>
              <a:srgbClr val="24163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3666744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77840" y="35387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4937760" y="413308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exact transcript of what the user said and what the AI replied makes debugging, QA and auditing straightforward.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Trade-offs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lost — and what gets expensive — when speech becomes text.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27048"/>
            <a:ext cx="502920" cy="502920"/>
          </a:xfrm>
          <a:prstGeom prst="ellipse">
            <a:avLst/>
          </a:prstGeom>
          <a:solidFill>
            <a:srgbClr val="F2545B"/>
          </a:solidFill>
          <a:ln w="12700">
            <a:solidFill>
              <a:srgbClr val="F2545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655064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4813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Paralinguistic blind spot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78308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strips tone. A heavy sigh plus “Yeah, sure, whatever” is transcribed as agreement — and answered cheerfully.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532888"/>
            <a:ext cx="502920" cy="502920"/>
          </a:xfrm>
          <a:prstGeom prst="ellipse">
            <a:avLst/>
          </a:prstGeom>
          <a:solidFill>
            <a:srgbClr val="F2545B"/>
          </a:solidFill>
          <a:ln w="12700">
            <a:solidFill>
              <a:srgbClr val="F2545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660904"/>
            <a:ext cx="246888" cy="2468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4871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latency tax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278892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Time-to-first-audio is the sum of every stage. Sub-800 ms takes heroic engineering.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538728"/>
            <a:ext cx="502920" cy="502920"/>
          </a:xfrm>
          <a:prstGeom prst="ellipse">
            <a:avLst/>
          </a:prstGeom>
          <a:solidFill>
            <a:srgbClr val="F2545B"/>
          </a:solidFill>
          <a:ln w="12700">
            <a:solidFill>
              <a:srgbClr val="F254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666744"/>
            <a:ext cx="246888" cy="24688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3493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Barge-in complexity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37947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Interruptions need a separate VAD, instant TTS cancellation, buffer flushes and race-free state handling.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029200" y="1417320"/>
            <a:ext cx="3657600" cy="3246120"/>
          </a:xfrm>
          <a:prstGeom prst="roundRect">
            <a:avLst>
              <a:gd name="adj" fmla="val 2817"/>
            </a:avLst>
          </a:prstGeom>
          <a:solidFill>
            <a:srgbClr val="24163A"/>
          </a:solidFill>
          <a:ln w="12700">
            <a:solidFill>
              <a:srgbClr val="24163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257800" y="1600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time-to-first-audio goes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257800" y="18745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4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budget for an ~800 ms target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5257800" y="22860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tail-padding</a:t>
            </a:r>
            <a:pPr indent="0" marL="0">
              <a:buNone/>
            </a:pPr>
            <a:r>
              <a:rPr lang="en-US" sz="1100" b="1" dirty="0">
                <a:solidFill>
                  <a:srgbClr val="E4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200 ms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257800" y="2560320"/>
            <a:ext cx="3200400" cy="146304"/>
          </a:xfrm>
          <a:prstGeom prst="rect">
            <a:avLst/>
          </a:prstGeom>
          <a:solidFill>
            <a:srgbClr val="3A2757"/>
          </a:solidFill>
          <a:ln w="12700">
            <a:solidFill>
              <a:srgbClr val="3A275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257800" y="2560320"/>
            <a:ext cx="800100" cy="146304"/>
          </a:xfrm>
          <a:prstGeom prst="rect">
            <a:avLst/>
          </a:prstGeom>
          <a:solidFill>
            <a:srgbClr val="E4DDF0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257800" y="28346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inference</a:t>
            </a:r>
            <a:pPr indent="0" marL="0">
              <a:buNone/>
            </a:pPr>
            <a:r>
              <a:rPr lang="en-US" sz="1100" b="1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150 ms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257800" y="3108960"/>
            <a:ext cx="3200400" cy="146304"/>
          </a:xfrm>
          <a:prstGeom prst="rect">
            <a:avLst/>
          </a:prstGeom>
          <a:solidFill>
            <a:srgbClr val="3A2757"/>
          </a:solidFill>
          <a:ln w="12700">
            <a:solidFill>
              <a:srgbClr val="3A275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257800" y="3108960"/>
            <a:ext cx="600075" cy="146304"/>
          </a:xfrm>
          <a:prstGeom prst="rect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257800" y="33832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prefill + 1st token</a:t>
            </a:r>
            <a:pPr indent="0" marL="0">
              <a:buNone/>
            </a:pPr>
            <a:r>
              <a:rPr lang="en-US" sz="1100" b="1" dirty="0">
                <a:solidFill>
                  <a:srgbClr val="FFB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250 ms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257800" y="3657600"/>
            <a:ext cx="3200400" cy="146304"/>
          </a:xfrm>
          <a:prstGeom prst="rect">
            <a:avLst/>
          </a:prstGeom>
          <a:solidFill>
            <a:srgbClr val="3A2757"/>
          </a:solidFill>
          <a:ln w="12700">
            <a:solidFill>
              <a:srgbClr val="3A2757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257800" y="3657600"/>
            <a:ext cx="1000125" cy="146304"/>
          </a:xfrm>
          <a:prstGeom prst="rect">
            <a:avLst/>
          </a:prstGeom>
          <a:solidFill>
            <a:srgbClr val="FFB22E"/>
          </a:solidFill>
          <a:ln w="12700">
            <a:solidFill>
              <a:srgbClr val="FFB22E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257800" y="39319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prefill + 1st chunk</a:t>
            </a:r>
            <a:pPr indent="0" marL="0">
              <a:buNone/>
            </a:pPr>
            <a:r>
              <a:rPr lang="en-US" sz="1100" b="1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200 ms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257800" y="4206240"/>
            <a:ext cx="3200400" cy="146304"/>
          </a:xfrm>
          <a:prstGeom prst="rect">
            <a:avLst/>
          </a:prstGeom>
          <a:solidFill>
            <a:srgbClr val="3A2757"/>
          </a:solidFill>
          <a:ln w="12700">
            <a:solidFill>
              <a:srgbClr val="3A2757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257800" y="4206240"/>
            <a:ext cx="800100" cy="146304"/>
          </a:xfrm>
          <a:prstGeom prst="rect">
            <a:avLst/>
          </a:prstGeom>
          <a:solidFill>
            <a:srgbClr val="F2545B"/>
          </a:solidFill>
          <a:ln w="12700">
            <a:solidFill>
              <a:srgbClr val="F2545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Cascaded vs. Omni (Native Audio)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B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Cascaded (STT → LLM → TTS)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Omni (audio ↔ audio)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6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(TTFA)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~800 ms – 1.5 s; heavy optimisation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 – 500 ms; near human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 &amp; tone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in transcription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Preserved and mirrored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Barge-in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VAD + state machine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— model stops generating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/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— mature text LLMs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/ unreliable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— filter text before TTS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— must filter audio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Textual, easy to catch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Acoustic artefacts, odd voices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changes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the TTS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Baked into weights; fine-tune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Multi-model routing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Huge audio KV-cache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minute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Moderate; scale stages independently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High; large unified GPU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advantage · Red = limitation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an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2606040"/>
          </a:xfrm>
          <a:prstGeom prst="roundRect">
            <a:avLst>
              <a:gd name="adj" fmla="val 3509"/>
            </a:avLst>
          </a:prstGeom>
          <a:solidFill>
            <a:srgbClr val="3A2757"/>
          </a:solidFill>
          <a:ln w="12700">
            <a:solidFill>
              <a:srgbClr val="5B45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FFB22E"/>
          </a:solidFill>
          <a:ln w="12700">
            <a:solidFill>
              <a:srgbClr val="FFB22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5727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63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Cascaded fits when…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0312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depend on documents, tools or strict JSON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needs auditable transcripts and text guardrails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voices must be swappable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independent scaling matter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3977640" cy="2606040"/>
          </a:xfrm>
          <a:prstGeom prst="roundRect">
            <a:avLst>
              <a:gd name="adj" fmla="val 3509"/>
            </a:avLst>
          </a:prstGeom>
          <a:solidFill>
            <a:srgbClr val="3A2757"/>
          </a:solidFill>
          <a:ln w="12700">
            <a:solidFill>
              <a:srgbClr val="5B45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5727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463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 fits when…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10312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Natural, sub-500 ms conversation is the product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and emotion must be heard and mirrored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interrupt often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depth is modest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4D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Cascaded trades latency and emotional nuance for control, accuracy and flexibility.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Cascaded Voice AI</dc:title>
  <dc:subject>PptxGenJS Presentation</dc:subject>
  <dc:creator>PptxGenJS</dc:creator>
  <cp:lastModifiedBy>PptxGenJS</cp:lastModifiedBy>
  <cp:revision>1</cp:revision>
  <dcterms:created xsi:type="dcterms:W3CDTF">2026-09-26T22:47:05Z</dcterms:created>
  <dcterms:modified xsi:type="dcterms:W3CDTF">2026-09-26T22:47:05Z</dcterms:modified>
</cp:coreProperties>
</file>